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1594" y="6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948DC71-9946-4A38-811A-1BFC17310B6E}" type="datetimeFigureOut">
              <a:rPr lang="en-US" smtClean="0"/>
              <a:t>2/7/2026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032F1CA-9351-40F9-B0D4-E272BC706A71}"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032F1CA-9351-40F9-B0D4-E272BC706A71}" type="slidenum">
              <a:rPr lang="en-US" smtClean="0"/>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12589BF-C94B-45DB-9286-AB6A3F4379F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2589BF-C94B-45DB-9286-AB6A3F4379F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12589BF-C94B-45DB-9286-AB6A3F4379F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12589BF-C94B-45DB-9286-AB6A3F4379FA}"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12589BF-C94B-45DB-9286-AB6A3F4379FA}" type="datetimeFigureOut">
              <a:rPr lang="en-US" smtClean="0"/>
              <a:t>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12589BF-C94B-45DB-9286-AB6A3F4379FA}" type="datetimeFigureOut">
              <a:rPr lang="en-US" smtClean="0"/>
              <a:t>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12589BF-C94B-45DB-9286-AB6A3F4379FA}" type="datetimeFigureOut">
              <a:rPr lang="en-US" smtClean="0"/>
              <a:t>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12589BF-C94B-45DB-9286-AB6A3F4379FA}"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12589BF-C94B-45DB-9286-AB6A3F4379FA}"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2589BF-C94B-45DB-9286-AB6A3F4379F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2589BF-C94B-45DB-9286-AB6A3F4379F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5E9BB8-D54D-4D32-A952-5D933D77DFE2}"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12589BF-C94B-45DB-9286-AB6A3F4379FA}" type="datetimeFigureOut">
              <a:rPr lang="en-US" smtClean="0"/>
              <a:t>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5E9BB8-D54D-4D32-A952-5D933D77DFE2}"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3568" y="476672"/>
            <a:ext cx="7772400" cy="2088232"/>
          </a:xfrm>
        </p:spPr>
        <p:txBody>
          <a:bodyPr/>
          <a:lstStyle/>
          <a:p>
            <a:r>
              <a:rPr lang="en-US" dirty="0">
                <a:latin typeface="Times New Roman" pitchFamily="18" charset="0"/>
                <a:cs typeface="Times New Roman" pitchFamily="18" charset="0"/>
              </a:rPr>
              <a:t>Data Utility Tool for Auto Join Discovery</a:t>
            </a:r>
          </a:p>
        </p:txBody>
      </p:sp>
      <p:sp>
        <p:nvSpPr>
          <p:cNvPr id="3" name="Subtitle 2"/>
          <p:cNvSpPr>
            <a:spLocks noGrp="1"/>
          </p:cNvSpPr>
          <p:nvPr>
            <p:ph type="subTitle" idx="1"/>
          </p:nvPr>
        </p:nvSpPr>
        <p:spPr>
          <a:xfrm>
            <a:off x="1403648" y="2708920"/>
            <a:ext cx="6400800" cy="1080120"/>
          </a:xfrm>
        </p:spPr>
        <p:txBody>
          <a:bodyPr/>
          <a:lstStyle/>
          <a:p>
            <a:r>
              <a:rPr lang="en-US" dirty="0">
                <a:latin typeface="Times New Roman" pitchFamily="18" charset="0"/>
                <a:cs typeface="Times New Roman" pitchFamily="18" charset="0"/>
              </a:rPr>
              <a:t>Campus Innovation Case Study</a:t>
            </a:r>
          </a:p>
        </p:txBody>
      </p:sp>
      <p:sp>
        <p:nvSpPr>
          <p:cNvPr id="4" name="TextBox 3"/>
          <p:cNvSpPr txBox="1"/>
          <p:nvPr/>
        </p:nvSpPr>
        <p:spPr>
          <a:xfrm>
            <a:off x="5148064" y="4797152"/>
            <a:ext cx="3384376" cy="1200329"/>
          </a:xfrm>
          <a:prstGeom prst="rect">
            <a:avLst/>
          </a:prstGeom>
          <a:noFill/>
        </p:spPr>
        <p:txBody>
          <a:bodyPr wrap="square" rtlCol="0">
            <a:spAutoFit/>
          </a:bodyPr>
          <a:lstStyle/>
          <a:p>
            <a:r>
              <a:rPr lang="en-US" dirty="0">
                <a:latin typeface="Times New Roman" pitchFamily="18" charset="0"/>
                <a:cs typeface="Times New Roman" pitchFamily="18" charset="0"/>
              </a:rPr>
              <a:t>Name: SHIBIKASRI G</a:t>
            </a:r>
          </a:p>
          <a:p>
            <a:r>
              <a:rPr lang="en-US" dirty="0">
                <a:latin typeface="Times New Roman" pitchFamily="18" charset="0"/>
                <a:cs typeface="Times New Roman" pitchFamily="18" charset="0"/>
              </a:rPr>
              <a:t>Role: Software Developer / CSE</a:t>
            </a:r>
          </a:p>
          <a:p>
            <a:r>
              <a:rPr lang="en-US" dirty="0">
                <a:latin typeface="Times New Roman" pitchFamily="18" charset="0"/>
                <a:cs typeface="Times New Roman" pitchFamily="18" charset="0"/>
              </a:rPr>
              <a:t>Date: 9</a:t>
            </a:r>
            <a:r>
              <a:rPr lang="en-US" baseline="30000" dirty="0">
                <a:latin typeface="Times New Roman" pitchFamily="18" charset="0"/>
                <a:cs typeface="Times New Roman" pitchFamily="18" charset="0"/>
              </a:rPr>
              <a:t>th</a:t>
            </a:r>
            <a:r>
              <a:rPr lang="en-US" dirty="0">
                <a:latin typeface="Times New Roman" pitchFamily="18" charset="0"/>
                <a:cs typeface="Times New Roman" pitchFamily="18" charset="0"/>
              </a:rPr>
              <a:t> February</a:t>
            </a:r>
          </a:p>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20688"/>
            <a:ext cx="8229600" cy="796950"/>
          </a:xfrm>
        </p:spPr>
        <p:txBody>
          <a:bodyPr/>
          <a:lstStyle/>
          <a:p>
            <a:r>
              <a:rPr lang="en-US" dirty="0">
                <a:latin typeface="Times New Roman" pitchFamily="18" charset="0"/>
                <a:cs typeface="Times New Roman" pitchFamily="18" charset="0"/>
              </a:rPr>
              <a:t>Introduction</a:t>
            </a:r>
          </a:p>
        </p:txBody>
      </p:sp>
      <p:sp>
        <p:nvSpPr>
          <p:cNvPr id="3" name="Content Placeholder 2"/>
          <p:cNvSpPr>
            <a:spLocks noGrp="1"/>
          </p:cNvSpPr>
          <p:nvPr>
            <p:ph idx="1"/>
          </p:nvPr>
        </p:nvSpPr>
        <p:spPr>
          <a:xfrm>
            <a:off x="457200" y="2060847"/>
            <a:ext cx="8229600" cy="3744417"/>
          </a:xfrm>
        </p:spPr>
        <p:txBody>
          <a:bodyPr>
            <a:normAutofit/>
          </a:bodyPr>
          <a:lstStyle/>
          <a:p>
            <a:pPr algn="just">
              <a:buNone/>
            </a:pPr>
            <a:r>
              <a:rPr lang="en-US" sz="2000" dirty="0">
                <a:latin typeface="Times New Roman" pitchFamily="18" charset="0"/>
                <a:cs typeface="Times New Roman" pitchFamily="18" charset="0"/>
              </a:rPr>
              <a:t>      Databases usually store data in multiple tables to keep information organized. To get meaningful results, developers need to join these tables together using SQL joins. But in real-world projects, identifying correct joins and understanding relationships between tables can take a lot of time and effort. This project focuses on creating a simple data utility tool that automatically finds possible joins between tables and helps developers write better and faster queries.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76672"/>
            <a:ext cx="8229600" cy="940966"/>
          </a:xfrm>
        </p:spPr>
        <p:txBody>
          <a:bodyPr/>
          <a:lstStyle/>
          <a:p>
            <a:r>
              <a:rPr lang="en-US" dirty="0"/>
              <a:t>Problem Statement</a:t>
            </a:r>
          </a:p>
        </p:txBody>
      </p:sp>
      <p:sp>
        <p:nvSpPr>
          <p:cNvPr id="3" name="Content Placeholder 2"/>
          <p:cNvSpPr>
            <a:spLocks noGrp="1"/>
          </p:cNvSpPr>
          <p:nvPr>
            <p:ph idx="1"/>
          </p:nvPr>
        </p:nvSpPr>
        <p:spPr>
          <a:xfrm>
            <a:off x="457200" y="1988840"/>
            <a:ext cx="8229600" cy="4137323"/>
          </a:xfrm>
        </p:spPr>
        <p:txBody>
          <a:bodyPr>
            <a:normAutofit/>
          </a:bodyPr>
          <a:lstStyle/>
          <a:p>
            <a:pPr algn="just">
              <a:buNone/>
            </a:pPr>
            <a:r>
              <a:rPr lang="en-US" sz="2000" dirty="0">
                <a:latin typeface="Times New Roman" pitchFamily="18" charset="0"/>
                <a:cs typeface="Times New Roman" pitchFamily="18" charset="0"/>
              </a:rPr>
              <a:t>      In many databases, developers have to manually analyze tables and columns to identify how they are related. This process becomes difficult when the database grows larger. Wrong joins can slow down queries and affect application performance. Many beginners and even experienced developers spend extra time figuring out relationships. So there is a need for a smart tool that can automatically detect joins and give performance improvement suggestions.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Objectives</a:t>
            </a:r>
          </a:p>
        </p:txBody>
      </p:sp>
      <p:sp>
        <p:nvSpPr>
          <p:cNvPr id="3" name="Content Placeholder 2"/>
          <p:cNvSpPr>
            <a:spLocks noGrp="1"/>
          </p:cNvSpPr>
          <p:nvPr>
            <p:ph idx="1"/>
          </p:nvPr>
        </p:nvSpPr>
        <p:spPr>
          <a:xfrm>
            <a:off x="1691680" y="2060848"/>
            <a:ext cx="6995120" cy="4065315"/>
          </a:xfrm>
        </p:spPr>
        <p:txBody>
          <a:bodyPr/>
          <a:lstStyle/>
          <a:p>
            <a:r>
              <a:rPr lang="en-US" sz="2000" dirty="0">
                <a:latin typeface="Times New Roman" pitchFamily="18" charset="0"/>
                <a:cs typeface="Times New Roman" pitchFamily="18" charset="0"/>
              </a:rPr>
              <a:t>Automatically detect join relationships</a:t>
            </a:r>
          </a:p>
          <a:p>
            <a:r>
              <a:rPr lang="en-US" sz="2000" dirty="0">
                <a:latin typeface="Times New Roman" pitchFamily="18" charset="0"/>
                <a:cs typeface="Times New Roman" pitchFamily="18" charset="0"/>
              </a:rPr>
              <a:t>Reduce manual effort in database analysis</a:t>
            </a:r>
          </a:p>
          <a:p>
            <a:r>
              <a:rPr lang="en-US" sz="2000" dirty="0">
                <a:latin typeface="Times New Roman" pitchFamily="18" charset="0"/>
                <a:cs typeface="Times New Roman" pitchFamily="18" charset="0"/>
              </a:rPr>
              <a:t>Improve SQL query performance</a:t>
            </a:r>
          </a:p>
          <a:p>
            <a:r>
              <a:rPr lang="en-US" sz="2000" dirty="0">
                <a:latin typeface="Times New Roman" pitchFamily="18" charset="0"/>
                <a:cs typeface="Times New Roman" pitchFamily="18" charset="0"/>
              </a:rPr>
              <a:t>Suggest optimized joins</a:t>
            </a:r>
          </a:p>
          <a:p>
            <a:r>
              <a:rPr lang="en-US" sz="2000" dirty="0">
                <a:latin typeface="Times New Roman" pitchFamily="18" charset="0"/>
                <a:cs typeface="Times New Roman" pitchFamily="18" charset="0"/>
              </a:rPr>
              <a:t>Provide indexing recommendations</a:t>
            </a:r>
          </a:p>
          <a:p>
            <a:r>
              <a:rPr lang="en-US" sz="2000" dirty="0">
                <a:latin typeface="Times New Roman" pitchFamily="18" charset="0"/>
                <a:cs typeface="Times New Roman" pitchFamily="18" charset="0"/>
              </a:rPr>
              <a:t>Help developers understand database structure faster</a:t>
            </a:r>
          </a:p>
          <a:p>
            <a:pPr>
              <a:buNone/>
            </a:pP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Technologies Used</a:t>
            </a:r>
          </a:p>
        </p:txBody>
      </p:sp>
      <p:sp>
        <p:nvSpPr>
          <p:cNvPr id="3" name="Content Placeholder 2"/>
          <p:cNvSpPr>
            <a:spLocks noGrp="1"/>
          </p:cNvSpPr>
          <p:nvPr>
            <p:ph idx="1"/>
          </p:nvPr>
        </p:nvSpPr>
        <p:spPr>
          <a:xfrm>
            <a:off x="1763688" y="2132856"/>
            <a:ext cx="6923112" cy="3993307"/>
          </a:xfrm>
        </p:spPr>
        <p:txBody>
          <a:bodyPr/>
          <a:lstStyle/>
          <a:p>
            <a:r>
              <a:rPr lang="en-US" sz="2000" dirty="0">
                <a:latin typeface="Times New Roman" pitchFamily="18" charset="0"/>
                <a:cs typeface="Times New Roman" pitchFamily="18" charset="0"/>
              </a:rPr>
              <a:t>Python</a:t>
            </a:r>
          </a:p>
          <a:p>
            <a:r>
              <a:rPr lang="en-US" sz="2000" dirty="0" err="1">
                <a:latin typeface="Times New Roman" pitchFamily="18" charset="0"/>
                <a:cs typeface="Times New Roman" pitchFamily="18" charset="0"/>
              </a:rPr>
              <a:t>SQLite</a:t>
            </a:r>
            <a:r>
              <a:rPr lang="en-US" sz="2000" dirty="0">
                <a:latin typeface="Times New Roman" pitchFamily="18" charset="0"/>
                <a:cs typeface="Times New Roman" pitchFamily="18" charset="0"/>
              </a:rPr>
              <a:t> Database</a:t>
            </a:r>
          </a:p>
          <a:p>
            <a:r>
              <a:rPr lang="en-US" sz="2000" dirty="0">
                <a:latin typeface="Times New Roman" pitchFamily="18" charset="0"/>
                <a:cs typeface="Times New Roman" pitchFamily="18" charset="0"/>
              </a:rPr>
              <a:t>SQL Concepts</a:t>
            </a:r>
          </a:p>
          <a:p>
            <a:r>
              <a:rPr lang="en-US" sz="2000" dirty="0">
                <a:latin typeface="Times New Roman" pitchFamily="18" charset="0"/>
                <a:cs typeface="Times New Roman" pitchFamily="18" charset="0"/>
              </a:rPr>
              <a:t>Automation Script</a:t>
            </a:r>
          </a:p>
          <a:p>
            <a:r>
              <a:rPr lang="en-US" sz="2000" dirty="0">
                <a:latin typeface="Times New Roman" pitchFamily="18" charset="0"/>
                <a:cs typeface="Times New Roman" pitchFamily="18" charset="0"/>
              </a:rPr>
              <a:t>Basic Database Optimization Techniques</a:t>
            </a:r>
          </a:p>
          <a:p>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Workflow</a:t>
            </a:r>
          </a:p>
        </p:txBody>
      </p:sp>
      <p:sp>
        <p:nvSpPr>
          <p:cNvPr id="3" name="Content Placeholder 2"/>
          <p:cNvSpPr>
            <a:spLocks noGrp="1"/>
          </p:cNvSpPr>
          <p:nvPr>
            <p:ph idx="1"/>
          </p:nvPr>
        </p:nvSpPr>
        <p:spPr>
          <a:xfrm>
            <a:off x="1547664" y="2204864"/>
            <a:ext cx="7139136" cy="3921299"/>
          </a:xfrm>
        </p:spPr>
        <p:txBody>
          <a:bodyPr/>
          <a:lstStyle/>
          <a:p>
            <a:r>
              <a:rPr lang="en-US" sz="2000" dirty="0">
                <a:latin typeface="Times New Roman" pitchFamily="18" charset="0"/>
                <a:cs typeface="Times New Roman" pitchFamily="18" charset="0"/>
              </a:rPr>
              <a:t>Connect to database</a:t>
            </a:r>
          </a:p>
          <a:p>
            <a:r>
              <a:rPr lang="en-US" sz="2000" dirty="0">
                <a:latin typeface="Times New Roman" pitchFamily="18" charset="0"/>
                <a:cs typeface="Times New Roman" pitchFamily="18" charset="0"/>
              </a:rPr>
              <a:t>Read table names</a:t>
            </a:r>
          </a:p>
          <a:p>
            <a:r>
              <a:rPr lang="en-US" sz="2000" dirty="0">
                <a:latin typeface="Times New Roman" pitchFamily="18" charset="0"/>
                <a:cs typeface="Times New Roman" pitchFamily="18" charset="0"/>
              </a:rPr>
              <a:t>Extract columns from each table</a:t>
            </a:r>
          </a:p>
          <a:p>
            <a:r>
              <a:rPr lang="en-US" sz="2000" dirty="0">
                <a:latin typeface="Times New Roman" pitchFamily="18" charset="0"/>
                <a:cs typeface="Times New Roman" pitchFamily="18" charset="0"/>
              </a:rPr>
              <a:t>Identify common ID columns</a:t>
            </a:r>
          </a:p>
          <a:p>
            <a:r>
              <a:rPr lang="en-US" sz="2000" dirty="0">
                <a:latin typeface="Times New Roman" pitchFamily="18" charset="0"/>
                <a:cs typeface="Times New Roman" pitchFamily="18" charset="0"/>
              </a:rPr>
              <a:t>Generate optimized join suggestions</a:t>
            </a:r>
          </a:p>
          <a:p>
            <a:r>
              <a:rPr lang="en-US" sz="2000" dirty="0">
                <a:latin typeface="Times New Roman" pitchFamily="18" charset="0"/>
                <a:cs typeface="Times New Roman" pitchFamily="18" charset="0"/>
              </a:rPr>
              <a:t>Provide performance recommendations</a:t>
            </a:r>
          </a:p>
          <a:p>
            <a:pPr>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Methodology</a:t>
            </a:r>
          </a:p>
        </p:txBody>
      </p:sp>
      <p:sp>
        <p:nvSpPr>
          <p:cNvPr id="3" name="Content Placeholder 2"/>
          <p:cNvSpPr>
            <a:spLocks noGrp="1"/>
          </p:cNvSpPr>
          <p:nvPr>
            <p:ph idx="1"/>
          </p:nvPr>
        </p:nvSpPr>
        <p:spPr>
          <a:xfrm>
            <a:off x="457200" y="2060848"/>
            <a:ext cx="8229600" cy="4065315"/>
          </a:xfrm>
        </p:spPr>
        <p:txBody>
          <a:bodyPr>
            <a:normAutofit/>
          </a:bodyPr>
          <a:lstStyle/>
          <a:p>
            <a:pPr algn="just">
              <a:buNone/>
            </a:pPr>
            <a:r>
              <a:rPr lang="en-US" sz="2000" dirty="0">
                <a:latin typeface="Times New Roman" pitchFamily="18" charset="0"/>
                <a:cs typeface="Times New Roman" pitchFamily="18" charset="0"/>
              </a:rPr>
              <a:t>     The system connects to the database and reads the schema information of all tables. It then compares column names across tables and identifies matching ID fields that can be used for joins. After detecting relationships, the tool generates optimized join suggestions and also recommends performance improvements like indexing and proper join types. The goal is to make database analysis faster and more efficient.</a:t>
            </a:r>
          </a:p>
        </p:txBody>
      </p:sp>
      <p:sp>
        <p:nvSpPr>
          <p:cNvPr id="4" name="TextBox 3">
            <a:extLst>
              <a:ext uri="{FF2B5EF4-FFF2-40B4-BE49-F238E27FC236}">
                <a16:creationId xmlns:a16="http://schemas.microsoft.com/office/drawing/2014/main" id="{6564D9C7-B979-F6CF-E6EE-7D2531FA2E45}"/>
              </a:ext>
            </a:extLst>
          </p:cNvPr>
          <p:cNvSpPr txBox="1"/>
          <p:nvPr/>
        </p:nvSpPr>
        <p:spPr>
          <a:xfrm>
            <a:off x="683568" y="5301208"/>
            <a:ext cx="8460432" cy="369332"/>
          </a:xfrm>
          <a:prstGeom prst="rect">
            <a:avLst/>
          </a:prstGeom>
          <a:noFill/>
        </p:spPr>
        <p:txBody>
          <a:bodyPr wrap="square" rtlCol="0">
            <a:spAutoFit/>
          </a:bodyPr>
          <a:lstStyle/>
          <a:p>
            <a:r>
              <a:rPr lang="en-US" dirty="0" err="1">
                <a:latin typeface="Times New Roman" panose="02020603050405020304" pitchFamily="18" charset="0"/>
                <a:cs typeface="Times New Roman" panose="02020603050405020304" pitchFamily="18" charset="0"/>
              </a:rPr>
              <a:t>github</a:t>
            </a:r>
            <a:r>
              <a:rPr lang="en-US" dirty="0">
                <a:latin typeface="Times New Roman" panose="02020603050405020304" pitchFamily="18" charset="0"/>
                <a:cs typeface="Times New Roman" panose="02020603050405020304" pitchFamily="18" charset="0"/>
              </a:rPr>
              <a:t> link : https://github.com/shibikasrig/data-utility-tool-for-auto-join-discovery</a:t>
            </a:r>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endParaRPr lang="en-US"/>
          </a:p>
        </p:txBody>
      </p:sp>
      <p:pic>
        <p:nvPicPr>
          <p:cNvPr id="1026" name="Picture 2" descr="C:\Users\harin\Downloads\is sc.jpeg"/>
          <p:cNvPicPr>
            <a:picLocks noChangeAspect="1" noChangeArrowheads="1"/>
          </p:cNvPicPr>
          <p:nvPr/>
        </p:nvPicPr>
        <p:blipFill>
          <a:blip r:embed="rId2" cstate="print"/>
          <a:srcRect/>
          <a:stretch>
            <a:fillRect/>
          </a:stretch>
        </p:blipFill>
        <p:spPr bwMode="auto">
          <a:xfrm>
            <a:off x="0" y="0"/>
            <a:ext cx="9144000" cy="685800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2050" name="Picture 2" descr="C:\Users\harin\Downloads\is sc1.jpeg"/>
          <p:cNvPicPr>
            <a:picLocks noChangeAspect="1" noChangeArrowheads="1"/>
          </p:cNvPicPr>
          <p:nvPr/>
        </p:nvPicPr>
        <p:blipFill>
          <a:blip r:embed="rId2" cstate="print"/>
          <a:srcRect/>
          <a:stretch>
            <a:fillRect/>
          </a:stretch>
        </p:blipFill>
        <p:spPr bwMode="auto">
          <a:xfrm>
            <a:off x="1" y="0"/>
            <a:ext cx="9144000" cy="68580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descr="C:\Users\harin\Downloads\is sc2.jpeg"/>
          <p:cNvPicPr>
            <a:picLocks noChangeAspect="1" noChangeArrowheads="1"/>
          </p:cNvPicPr>
          <p:nvPr/>
        </p:nvPicPr>
        <p:blipFill>
          <a:blip r:embed="rId2" cstate="print"/>
          <a:srcRect/>
          <a:stretch>
            <a:fillRect/>
          </a:stretch>
        </p:blipFill>
        <p:spPr bwMode="auto">
          <a:xfrm>
            <a:off x="0" y="0"/>
            <a:ext cx="9144000" cy="6858000"/>
          </a:xfrm>
          <a:prstGeom prst="rect">
            <a:avLst/>
          </a:prstGeom>
          <a:noFill/>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Performance Optimization Suggestions</a:t>
            </a:r>
          </a:p>
        </p:txBody>
      </p:sp>
      <p:sp>
        <p:nvSpPr>
          <p:cNvPr id="3" name="Content Placeholder 2"/>
          <p:cNvSpPr>
            <a:spLocks noGrp="1"/>
          </p:cNvSpPr>
          <p:nvPr>
            <p:ph idx="1"/>
          </p:nvPr>
        </p:nvSpPr>
        <p:spPr>
          <a:xfrm>
            <a:off x="2051720" y="1844824"/>
            <a:ext cx="6635080" cy="4281339"/>
          </a:xfrm>
        </p:spPr>
        <p:txBody>
          <a:bodyPr/>
          <a:lstStyle/>
          <a:p>
            <a:r>
              <a:rPr lang="en-US" sz="2000" dirty="0">
                <a:latin typeface="Times New Roman" pitchFamily="18" charset="0"/>
                <a:cs typeface="Times New Roman" pitchFamily="18" charset="0"/>
              </a:rPr>
              <a:t>Suggest INDEX on ID columns</a:t>
            </a:r>
          </a:p>
          <a:p>
            <a:r>
              <a:rPr lang="en-US" sz="2000" dirty="0">
                <a:latin typeface="Times New Roman" pitchFamily="18" charset="0"/>
                <a:cs typeface="Times New Roman" pitchFamily="18" charset="0"/>
              </a:rPr>
              <a:t>Recommend INNER JOIN usage</a:t>
            </a:r>
          </a:p>
          <a:p>
            <a:r>
              <a:rPr lang="en-US" sz="2000" dirty="0">
                <a:latin typeface="Times New Roman" pitchFamily="18" charset="0"/>
                <a:cs typeface="Times New Roman" pitchFamily="18" charset="0"/>
              </a:rPr>
              <a:t>Improve query execution speed</a:t>
            </a:r>
          </a:p>
          <a:p>
            <a:r>
              <a:rPr lang="en-US" sz="2000" dirty="0">
                <a:latin typeface="Times New Roman" pitchFamily="18" charset="0"/>
                <a:cs typeface="Times New Roman" pitchFamily="18" charset="0"/>
              </a:rPr>
              <a:t>Reduce database scanning</a:t>
            </a:r>
          </a:p>
          <a:p>
            <a:r>
              <a:rPr lang="en-US" sz="2000" dirty="0">
                <a:latin typeface="Times New Roman" pitchFamily="18" charset="0"/>
                <a:cs typeface="Times New Roman" pitchFamily="18" charset="0"/>
              </a:rPr>
              <a:t>Enhance data retrieval performance</a:t>
            </a:r>
          </a:p>
          <a:p>
            <a:pPr>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Advantages</a:t>
            </a:r>
          </a:p>
        </p:txBody>
      </p:sp>
      <p:sp>
        <p:nvSpPr>
          <p:cNvPr id="3" name="Content Placeholder 2"/>
          <p:cNvSpPr>
            <a:spLocks noGrp="1"/>
          </p:cNvSpPr>
          <p:nvPr>
            <p:ph idx="1"/>
          </p:nvPr>
        </p:nvSpPr>
        <p:spPr>
          <a:xfrm>
            <a:off x="1907704" y="1916831"/>
            <a:ext cx="6779096" cy="2736305"/>
          </a:xfrm>
        </p:spPr>
        <p:txBody>
          <a:bodyPr/>
          <a:lstStyle/>
          <a:p>
            <a:r>
              <a:rPr lang="en-US" sz="2000" dirty="0">
                <a:latin typeface="Times New Roman" pitchFamily="18" charset="0"/>
                <a:cs typeface="Times New Roman" pitchFamily="18" charset="0"/>
              </a:rPr>
              <a:t>Beginner-friendly tool</a:t>
            </a:r>
          </a:p>
          <a:p>
            <a:r>
              <a:rPr lang="en-US" sz="2000" dirty="0">
                <a:latin typeface="Times New Roman" pitchFamily="18" charset="0"/>
                <a:cs typeface="Times New Roman" pitchFamily="18" charset="0"/>
              </a:rPr>
              <a:t>Saves development time</a:t>
            </a:r>
          </a:p>
          <a:p>
            <a:r>
              <a:rPr lang="en-US" sz="2000" dirty="0">
                <a:latin typeface="Times New Roman" pitchFamily="18" charset="0"/>
                <a:cs typeface="Times New Roman" pitchFamily="18" charset="0"/>
              </a:rPr>
              <a:t>Improves database performance</a:t>
            </a:r>
          </a:p>
          <a:p>
            <a:r>
              <a:rPr lang="en-US" sz="2000" dirty="0">
                <a:latin typeface="Times New Roman" pitchFamily="18" charset="0"/>
                <a:cs typeface="Times New Roman" pitchFamily="18" charset="0"/>
              </a:rPr>
              <a:t>Easy automation using Python</a:t>
            </a:r>
          </a:p>
          <a:p>
            <a:r>
              <a:rPr lang="en-US" sz="2000" dirty="0">
                <a:latin typeface="Times New Roman" pitchFamily="18" charset="0"/>
                <a:cs typeface="Times New Roman" pitchFamily="18" charset="0"/>
              </a:rPr>
              <a:t>Helps in large database analysis</a:t>
            </a:r>
          </a:p>
          <a:p>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Future Enhancements</a:t>
            </a:r>
          </a:p>
        </p:txBody>
      </p:sp>
      <p:sp>
        <p:nvSpPr>
          <p:cNvPr id="3" name="Content Placeholder 2"/>
          <p:cNvSpPr>
            <a:spLocks noGrp="1"/>
          </p:cNvSpPr>
          <p:nvPr>
            <p:ph idx="1"/>
          </p:nvPr>
        </p:nvSpPr>
        <p:spPr>
          <a:xfrm>
            <a:off x="1763688" y="2060848"/>
            <a:ext cx="6923112" cy="4065315"/>
          </a:xfrm>
        </p:spPr>
        <p:txBody>
          <a:bodyPr/>
          <a:lstStyle/>
          <a:p>
            <a:r>
              <a:rPr lang="en-US" sz="2000" dirty="0">
                <a:latin typeface="Times New Roman" pitchFamily="18" charset="0"/>
                <a:cs typeface="Times New Roman" pitchFamily="18" charset="0"/>
              </a:rPr>
              <a:t>Support </a:t>
            </a:r>
            <a:r>
              <a:rPr lang="en-US" sz="2000" dirty="0" err="1">
                <a:latin typeface="Times New Roman" pitchFamily="18" charset="0"/>
                <a:cs typeface="Times New Roman" pitchFamily="18" charset="0"/>
              </a:rPr>
              <a:t>MySQL</a:t>
            </a:r>
            <a:r>
              <a:rPr lang="en-US" sz="2000" dirty="0">
                <a:latin typeface="Times New Roman" pitchFamily="18" charset="0"/>
                <a:cs typeface="Times New Roman" pitchFamily="18" charset="0"/>
              </a:rPr>
              <a:t> &amp; SQL Server</a:t>
            </a:r>
          </a:p>
          <a:p>
            <a:r>
              <a:rPr lang="en-US" sz="2000" dirty="0">
                <a:latin typeface="Times New Roman" pitchFamily="18" charset="0"/>
                <a:cs typeface="Times New Roman" pitchFamily="18" charset="0"/>
              </a:rPr>
              <a:t>GUI-based interface</a:t>
            </a:r>
          </a:p>
          <a:p>
            <a:r>
              <a:rPr lang="en-US" sz="2000" dirty="0">
                <a:latin typeface="Times New Roman" pitchFamily="18" charset="0"/>
                <a:cs typeface="Times New Roman" pitchFamily="18" charset="0"/>
              </a:rPr>
              <a:t>AI-based join prediction</a:t>
            </a:r>
          </a:p>
          <a:p>
            <a:r>
              <a:rPr lang="en-US" sz="2000" dirty="0">
                <a:latin typeface="Times New Roman" pitchFamily="18" charset="0"/>
                <a:cs typeface="Times New Roman" pitchFamily="18" charset="0"/>
              </a:rPr>
              <a:t>Query optimization engine</a:t>
            </a:r>
          </a:p>
          <a:p>
            <a:r>
              <a:rPr lang="en-US" sz="2000" dirty="0">
                <a:latin typeface="Times New Roman" pitchFamily="18" charset="0"/>
                <a:cs typeface="Times New Roman" pitchFamily="18" charset="0"/>
              </a:rPr>
              <a:t>Cloud database integration</a:t>
            </a:r>
          </a:p>
          <a:p>
            <a:pPr>
              <a:buNone/>
            </a:pP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76672"/>
            <a:ext cx="8229600" cy="940966"/>
          </a:xfrm>
        </p:spPr>
        <p:txBody>
          <a:bodyPr/>
          <a:lstStyle/>
          <a:p>
            <a:r>
              <a:rPr lang="en-US" dirty="0"/>
              <a:t>Conclusion</a:t>
            </a:r>
          </a:p>
        </p:txBody>
      </p:sp>
      <p:sp>
        <p:nvSpPr>
          <p:cNvPr id="3" name="Content Placeholder 2"/>
          <p:cNvSpPr>
            <a:spLocks noGrp="1"/>
          </p:cNvSpPr>
          <p:nvPr>
            <p:ph idx="1"/>
          </p:nvPr>
        </p:nvSpPr>
        <p:spPr>
          <a:xfrm>
            <a:off x="457200" y="2276872"/>
            <a:ext cx="8229600" cy="3849291"/>
          </a:xfrm>
        </p:spPr>
        <p:txBody>
          <a:bodyPr>
            <a:normAutofit/>
          </a:bodyPr>
          <a:lstStyle/>
          <a:p>
            <a:pPr algn="just">
              <a:buNone/>
            </a:pPr>
            <a:r>
              <a:rPr lang="en-US" sz="2000" dirty="0">
                <a:latin typeface="Times New Roman" pitchFamily="18" charset="0"/>
                <a:cs typeface="Times New Roman" pitchFamily="18" charset="0"/>
              </a:rPr>
              <a:t>     This project demonstrates how automation can simplify database analysis and improve performance. By automatically detecting joins and suggesting optimizations, the tool helps developers save time and reduce errors. It is a practical solution that can be extended further to support more complex databases and intelligent optimization techniques in the future.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TotalTime>
  <Words>441</Words>
  <Application>Microsoft Office PowerPoint</Application>
  <PresentationFormat>On-screen Show (4:3)</PresentationFormat>
  <Paragraphs>53</Paragraphs>
  <Slides>14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Data Utility Tool for Auto Join Discovery</vt:lpstr>
      <vt:lpstr>Introduction</vt:lpstr>
      <vt:lpstr>Problem Statement</vt:lpstr>
      <vt:lpstr>Objectives</vt:lpstr>
      <vt:lpstr>Technologies Used</vt:lpstr>
      <vt:lpstr>System Workflow</vt:lpstr>
      <vt:lpstr>Methodology</vt:lpstr>
      <vt:lpstr>PowerPoint Presentation</vt:lpstr>
      <vt:lpstr>PowerPoint Presentation</vt:lpstr>
      <vt:lpstr>PowerPoint Presentation</vt:lpstr>
      <vt:lpstr>Performance Optimization Suggestions</vt:lpstr>
      <vt:lpstr>Advantages</vt:lpstr>
      <vt:lpstr>Future Enhancements</vt:lpstr>
      <vt:lpstr>Conclusion</vt:lpstr>
    </vt:vector>
  </TitlesOfParts>
  <Company>Grizli777</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M.Harinie Babu</dc:creator>
  <cp:lastModifiedBy>Shibi Guna</cp:lastModifiedBy>
  <cp:revision>7</cp:revision>
  <dcterms:created xsi:type="dcterms:W3CDTF">2026-02-07T14:38:44Z</dcterms:created>
  <dcterms:modified xsi:type="dcterms:W3CDTF">2026-02-07T16:37:29Z</dcterms:modified>
</cp:coreProperties>
</file>